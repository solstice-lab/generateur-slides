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4" r:id="rId1"/>
  </p:sldMasterIdLst>
  <p:notesMasterIdLst>
    <p:notesMasterId r:id="rId9"/>
  </p:notesMasterIdLst>
  <p:sldIdLst>
    <p:sldId id="256" r:id="rId2"/>
    <p:sldId id="257" r:id="rId3"/>
    <p:sldId id="264" r:id="rId4"/>
    <p:sldId id="265" r:id="rId5"/>
    <p:sldId id="266" r:id="rId6"/>
    <p:sldId id="278" r:id="rId7"/>
    <p:sldId id="296" r:id="rId8"/>
  </p:sldIdLst>
  <p:sldSz cx="9144000" cy="5143500" type="screen16x9"/>
  <p:notesSz cx="6858000" cy="9144000"/>
  <p:embeddedFontLst>
    <p:embeddedFont>
      <p:font typeface="Helvetica Neue" panose="020B0604020202020204" charset="0"/>
      <p:regular r:id="rId10"/>
      <p:bold r:id="rId11"/>
      <p:italic r:id="rId12"/>
      <p:boldItalic r:id="rId13"/>
    </p:embeddedFont>
    <p:embeddedFont>
      <p:font typeface="Helvetica Neue Light" panose="020B0604020202020204" charset="0"/>
      <p:regular r:id="rId14"/>
      <p:bold r:id="rId15"/>
      <p:italic r:id="rId16"/>
      <p:boldItalic r:id="rId17"/>
    </p:embeddedFont>
    <p:embeddedFont>
      <p:font typeface="IBM Plex Sans" panose="020B0503050203000203" pitchFamily="34" charset="0"/>
      <p:regular r:id="rId18"/>
      <p:bold r:id="rId19"/>
      <p:italic r:id="rId20"/>
      <p:boldItalic r:id="rId21"/>
    </p:embeddedFont>
    <p:embeddedFont>
      <p:font typeface="IBM Plex Sans Light" panose="020B0403050203000203" pitchFamily="3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font" Target="fonts/font16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font" Target="fonts/font15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font" Target="fonts/font14.fntdata"/><Relationship Id="rId28" Type="http://schemas.openxmlformats.org/officeDocument/2006/relationships/theme" Target="theme/theme1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font" Target="fonts/font13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8df5152585_0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714375"/>
            <a:ext cx="3429000" cy="1928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" name="Google Shape;27;g38df5152585_0_228:notes"/>
          <p:cNvSpPr txBox="1">
            <a:spLocks noGrp="1"/>
          </p:cNvSpPr>
          <p:nvPr>
            <p:ph type="body" idx="1"/>
          </p:nvPr>
        </p:nvSpPr>
        <p:spPr>
          <a:xfrm>
            <a:off x="571500" y="2750344"/>
            <a:ext cx="4572000" cy="22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00" rIns="69850" bIns="34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g38df5152585_0_228:notes"/>
          <p:cNvSpPr txBox="1">
            <a:spLocks noGrp="1"/>
          </p:cNvSpPr>
          <p:nvPr>
            <p:ph type="sldNum" idx="12"/>
          </p:nvPr>
        </p:nvSpPr>
        <p:spPr>
          <a:xfrm>
            <a:off x="3237178" y="5428258"/>
            <a:ext cx="2476500" cy="2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00" rIns="69850" bIns="349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1</a:t>
            </a:fld>
            <a:endParaRPr sz="11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8b215522cf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714375"/>
            <a:ext cx="3429000" cy="1928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" name="Google Shape;39;g38b215522cf_0_60:notes"/>
          <p:cNvSpPr txBox="1">
            <a:spLocks noGrp="1"/>
          </p:cNvSpPr>
          <p:nvPr>
            <p:ph type="body" idx="1"/>
          </p:nvPr>
        </p:nvSpPr>
        <p:spPr>
          <a:xfrm>
            <a:off x="571500" y="2750344"/>
            <a:ext cx="4572000" cy="22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00" rIns="69850" bIns="34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g38b215522cf_0_60:notes"/>
          <p:cNvSpPr txBox="1">
            <a:spLocks noGrp="1"/>
          </p:cNvSpPr>
          <p:nvPr>
            <p:ph type="sldNum" idx="12"/>
          </p:nvPr>
        </p:nvSpPr>
        <p:spPr>
          <a:xfrm>
            <a:off x="3237178" y="5428258"/>
            <a:ext cx="2476500" cy="2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00" rIns="69850" bIns="349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2</a:t>
            </a:fld>
            <a:endParaRPr sz="11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8c0e1e6527_0_7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714375"/>
            <a:ext cx="3429000" cy="1928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" name="Google Shape;167;g38c0e1e6527_0_716:notes"/>
          <p:cNvSpPr txBox="1">
            <a:spLocks noGrp="1"/>
          </p:cNvSpPr>
          <p:nvPr>
            <p:ph type="body" idx="1"/>
          </p:nvPr>
        </p:nvSpPr>
        <p:spPr>
          <a:xfrm>
            <a:off x="571500" y="2750344"/>
            <a:ext cx="4572000" cy="22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00" rIns="69850" bIns="34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g38c0e1e6527_0_716:notes"/>
          <p:cNvSpPr txBox="1">
            <a:spLocks noGrp="1"/>
          </p:cNvSpPr>
          <p:nvPr>
            <p:ph type="sldNum" idx="12"/>
          </p:nvPr>
        </p:nvSpPr>
        <p:spPr>
          <a:xfrm>
            <a:off x="3237178" y="5428258"/>
            <a:ext cx="2476500" cy="2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00" rIns="69850" bIns="349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3</a:t>
            </a:fld>
            <a:endParaRPr sz="11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8b215522cf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714375"/>
            <a:ext cx="3429000" cy="1928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g38b215522cf_0_118:notes"/>
          <p:cNvSpPr txBox="1">
            <a:spLocks noGrp="1"/>
          </p:cNvSpPr>
          <p:nvPr>
            <p:ph type="body" idx="1"/>
          </p:nvPr>
        </p:nvSpPr>
        <p:spPr>
          <a:xfrm>
            <a:off x="571500" y="2750344"/>
            <a:ext cx="4572000" cy="22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00" rIns="69850" bIns="34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g38b215522cf_0_118:notes"/>
          <p:cNvSpPr txBox="1">
            <a:spLocks noGrp="1"/>
          </p:cNvSpPr>
          <p:nvPr>
            <p:ph type="sldNum" idx="12"/>
          </p:nvPr>
        </p:nvSpPr>
        <p:spPr>
          <a:xfrm>
            <a:off x="3237178" y="5428258"/>
            <a:ext cx="2476500" cy="2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00" rIns="69850" bIns="349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4</a:t>
            </a:fld>
            <a:endParaRPr sz="11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8c0e1e6527_0_3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714375"/>
            <a:ext cx="3429000" cy="1928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3" name="Google Shape;183;g38c0e1e6527_0_386:notes"/>
          <p:cNvSpPr txBox="1">
            <a:spLocks noGrp="1"/>
          </p:cNvSpPr>
          <p:nvPr>
            <p:ph type="body" idx="1"/>
          </p:nvPr>
        </p:nvSpPr>
        <p:spPr>
          <a:xfrm>
            <a:off x="571500" y="2750344"/>
            <a:ext cx="4572000" cy="22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00" rIns="69850" bIns="34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g38c0e1e6527_0_386:notes"/>
          <p:cNvSpPr txBox="1">
            <a:spLocks noGrp="1"/>
          </p:cNvSpPr>
          <p:nvPr>
            <p:ph type="sldNum" idx="12"/>
          </p:nvPr>
        </p:nvSpPr>
        <p:spPr>
          <a:xfrm>
            <a:off x="3237178" y="5428258"/>
            <a:ext cx="2476500" cy="2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00" rIns="69850" bIns="349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5</a:t>
            </a:fld>
            <a:endParaRPr sz="11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9ccfb62cae_0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9ccfb62cae_0_1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3c9265da87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714375"/>
            <a:ext cx="3429000" cy="1928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5" name="Google Shape;655;g3c9265da874_0_0:notes"/>
          <p:cNvSpPr txBox="1">
            <a:spLocks noGrp="1"/>
          </p:cNvSpPr>
          <p:nvPr>
            <p:ph type="body" idx="1"/>
          </p:nvPr>
        </p:nvSpPr>
        <p:spPr>
          <a:xfrm>
            <a:off x="571500" y="2750344"/>
            <a:ext cx="4572000" cy="22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00" rIns="69850" bIns="34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6" name="Google Shape;656;g3c9265da874_0_0:notes"/>
          <p:cNvSpPr txBox="1">
            <a:spLocks noGrp="1"/>
          </p:cNvSpPr>
          <p:nvPr>
            <p:ph type="sldNum" idx="12"/>
          </p:nvPr>
        </p:nvSpPr>
        <p:spPr>
          <a:xfrm>
            <a:off x="3237178" y="5428258"/>
            <a:ext cx="2476500" cy="2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00" rIns="69850" bIns="349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7</a:t>
            </a:fld>
            <a:endParaRPr sz="11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 master">
  <p:cSld name="Slide 1 master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2 master">
  <p:cSld name="Slide 2 master">
    <p:bg>
      <p:bgPr>
        <a:solidFill>
          <a:srgbClr val="DFEBFD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6 master">
  <p:cSld name="Slide 6 master">
    <p:bg>
      <p:bgPr>
        <a:solidFill>
          <a:srgbClr val="000000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4"/>
          <p:cNvSpPr txBox="1"/>
          <p:nvPr/>
        </p:nvSpPr>
        <p:spPr>
          <a:xfrm rot="-5400000">
            <a:off x="7329050" y="2902075"/>
            <a:ext cx="3225900" cy="3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D9D9D9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© Copyright Solstice Lab 2025</a:t>
            </a:r>
            <a:endParaRPr sz="900">
              <a:solidFill>
                <a:srgbClr val="D9D9D9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pic>
        <p:nvPicPr>
          <p:cNvPr id="15" name="Google Shape;15;p4" title="•_08_Solstice- LAB-embleme_jaune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827045" y="4738475"/>
            <a:ext cx="229900" cy="256199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4"/>
          <p:cNvSpPr txBox="1">
            <a:spLocks noGrp="1"/>
          </p:cNvSpPr>
          <p:nvPr>
            <p:ph type="sldNum" idx="12"/>
          </p:nvPr>
        </p:nvSpPr>
        <p:spPr>
          <a:xfrm>
            <a:off x="8863836" y="4799896"/>
            <a:ext cx="153900" cy="130800"/>
          </a:xfrm>
          <a:prstGeom prst="rect">
            <a:avLst/>
          </a:prstGeom>
        </p:spPr>
        <p:txBody>
          <a:bodyPr spcFirstLastPara="1" wrap="square" lIns="19050" tIns="19050" rIns="19050" bIns="19050" anchor="t" anchorCtr="0">
            <a:spAutoFit/>
          </a:bodyPr>
          <a:lstStyle>
            <a:lvl1pPr lvl="0">
              <a:buNone/>
              <a:defRPr sz="6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buNone/>
              <a:defRPr sz="6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buNone/>
              <a:defRPr sz="6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buNone/>
              <a:defRPr sz="6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buNone/>
              <a:defRPr sz="6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buNone/>
              <a:defRPr sz="6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buNone/>
              <a:defRPr sz="6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buNone/>
              <a:defRPr sz="6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buNone/>
              <a:defRPr sz="6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1 master">
  <p:cSld name="Slide 11 master">
    <p:bg>
      <p:bgPr>
        <a:solidFill>
          <a:srgbClr val="000000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152B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3 master">
  <p:cSld name="Slide 3 master">
    <p:bg>
      <p:bgPr>
        <a:solidFill>
          <a:schemeClr val="lt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33413" y="133350"/>
            <a:ext cx="787717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33413" y="1181100"/>
            <a:ext cx="7877175" cy="3486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rm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69964" cy="1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sp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5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/>
          <p:nvPr/>
        </p:nvSpPr>
        <p:spPr>
          <a:xfrm>
            <a:off x="0" y="358574"/>
            <a:ext cx="5961000" cy="12189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highlight>
                <a:srgbClr val="DFEBFD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1" name="Google Shape;31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43550" y="0"/>
            <a:ext cx="360045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6119" y="2149037"/>
            <a:ext cx="3000671" cy="499542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8"/>
          <p:cNvSpPr/>
          <p:nvPr/>
        </p:nvSpPr>
        <p:spPr>
          <a:xfrm>
            <a:off x="496125" y="3342121"/>
            <a:ext cx="4722900" cy="9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000" b="1">
                <a:solidFill>
                  <a:srgbClr val="15152B"/>
                </a:solidFill>
                <a:latin typeface="IBM Plex Sans"/>
                <a:ea typeface="IBM Plex Sans"/>
                <a:cs typeface="IBM Plex Sans"/>
                <a:sym typeface="IBM Plex Sans"/>
              </a:rPr>
              <a:t>Titre</a:t>
            </a:r>
            <a:endParaRPr sz="2000" b="1">
              <a:solidFill>
                <a:srgbClr val="15152B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2B"/>
              </a:buClr>
              <a:buSzPts val="1100"/>
              <a:buFont typeface="IBM Plex Sans"/>
              <a:buNone/>
            </a:pPr>
            <a:r>
              <a:rPr lang="en" sz="1600">
                <a:solidFill>
                  <a:srgbClr val="15152B"/>
                </a:solidFill>
                <a:latin typeface="IBM Plex Sans"/>
                <a:ea typeface="IBM Plex Sans"/>
                <a:cs typeface="IBM Plex Sans"/>
                <a:sym typeface="IBM Plex Sans"/>
              </a:rPr>
              <a:t>Sous-titre</a:t>
            </a:r>
            <a:endParaRPr sz="2000" b="1">
              <a:solidFill>
                <a:srgbClr val="15152B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2B"/>
              </a:buClr>
              <a:buSzPts val="1100"/>
              <a:buFont typeface="IBM Plex Sans"/>
              <a:buNone/>
            </a:pPr>
            <a:endParaRPr sz="1600">
              <a:solidFill>
                <a:srgbClr val="15152B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2B"/>
              </a:buClr>
              <a:buSzPts val="1100"/>
              <a:buFont typeface="IBM Plex Sans"/>
              <a:buNone/>
            </a:pPr>
            <a:r>
              <a:rPr lang="en" sz="1200">
                <a:solidFill>
                  <a:srgbClr val="15152B"/>
                </a:solidFill>
                <a:latin typeface="IBM Plex Sans"/>
                <a:ea typeface="IBM Plex Sans"/>
                <a:cs typeface="IBM Plex Sans"/>
                <a:sym typeface="IBM Plex Sans"/>
              </a:rPr>
              <a:t>Date</a:t>
            </a:r>
            <a:endParaRPr sz="1200">
              <a:solidFill>
                <a:srgbClr val="15152B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4" name="Google Shape;34;p8"/>
          <p:cNvSpPr txBox="1"/>
          <p:nvPr/>
        </p:nvSpPr>
        <p:spPr>
          <a:xfrm>
            <a:off x="496463" y="2763463"/>
            <a:ext cx="30000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FFFFFF"/>
                </a:solidFill>
                <a:highlight>
                  <a:srgbClr val="15152B"/>
                </a:highlight>
                <a:latin typeface="IBM Plex Sans"/>
                <a:ea typeface="IBM Plex Sans"/>
                <a:cs typeface="IBM Plex Sans"/>
                <a:sym typeface="IBM Plex Sans"/>
              </a:rPr>
              <a:t>Agence-conseil Data &amp; IA</a:t>
            </a:r>
            <a:endParaRPr sz="1500" b="1">
              <a:solidFill>
                <a:srgbClr val="FFFFFF"/>
              </a:solidFill>
              <a:highlight>
                <a:srgbClr val="15152B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5" name="Google Shape;35;p8"/>
          <p:cNvSpPr/>
          <p:nvPr/>
        </p:nvSpPr>
        <p:spPr>
          <a:xfrm>
            <a:off x="496119" y="453346"/>
            <a:ext cx="15546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15152B"/>
                </a:solidFill>
                <a:latin typeface="IBM Plex Sans"/>
                <a:ea typeface="IBM Plex Sans"/>
                <a:cs typeface="IBM Plex Sans"/>
                <a:sym typeface="IBM Plex Sans"/>
              </a:rPr>
              <a:t>Préparé pour </a:t>
            </a:r>
            <a:endParaRPr sz="1200">
              <a:solidFill>
                <a:srgbClr val="15152B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6" name="Google Shape;36;p8"/>
          <p:cNvSpPr/>
          <p:nvPr/>
        </p:nvSpPr>
        <p:spPr>
          <a:xfrm>
            <a:off x="496119" y="684350"/>
            <a:ext cx="3000600" cy="617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Logo Client optionnel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96125" y="1017150"/>
            <a:ext cx="8018700" cy="31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152B"/>
              </a:buClr>
              <a:buSzPts val="2800"/>
              <a:buFont typeface="IBM Plex Sans"/>
              <a:buNone/>
            </a:pPr>
            <a:r>
              <a:rPr lang="en" sz="2000" b="1">
                <a:solidFill>
                  <a:srgbClr val="15152B"/>
                </a:solidFill>
                <a:highlight>
                  <a:srgbClr val="FFD200"/>
                </a:highlight>
                <a:latin typeface="IBM Plex Sans"/>
                <a:ea typeface="IBM Plex Sans"/>
                <a:cs typeface="IBM Plex Sans"/>
                <a:sym typeface="IBM Plex Sans"/>
              </a:rPr>
              <a:t>1 | Présentation De Solstice Lab</a:t>
            </a:r>
            <a:endParaRPr sz="2000" b="1" i="0" u="none" strike="noStrike" cap="none">
              <a:solidFill>
                <a:srgbClr val="15152B"/>
              </a:solidFill>
              <a:highlight>
                <a:srgbClr val="FFD200"/>
              </a:highlight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152B"/>
              </a:buClr>
              <a:buSzPts val="2800"/>
              <a:buFont typeface="IBM Plex Sans"/>
              <a:buNone/>
            </a:pPr>
            <a:endParaRPr sz="2000" b="1">
              <a:solidFill>
                <a:srgbClr val="15152B"/>
              </a:solidFill>
              <a:highlight>
                <a:srgbClr val="FFD200"/>
              </a:highlight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152B"/>
              </a:buClr>
              <a:buSzPts val="2800"/>
              <a:buFont typeface="IBM Plex Sans"/>
              <a:buNone/>
            </a:pPr>
            <a:r>
              <a:rPr lang="en" sz="2000" b="1">
                <a:latin typeface="IBM Plex Sans"/>
                <a:ea typeface="IBM Plex Sans"/>
                <a:cs typeface="IBM Plex Sans"/>
                <a:sym typeface="IBM Plex Sans"/>
              </a:rPr>
              <a:t>2 | Partie 2</a:t>
            </a:r>
            <a:endParaRPr sz="2000" b="1"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152B"/>
              </a:buClr>
              <a:buSzPts val="2800"/>
              <a:buFont typeface="IBM Plex Sans"/>
              <a:buNone/>
            </a:pPr>
            <a:endParaRPr sz="2000" b="1"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152B"/>
              </a:buClr>
              <a:buSzPts val="2800"/>
              <a:buFont typeface="IBM Plex Sans"/>
              <a:buNone/>
            </a:pPr>
            <a:r>
              <a:rPr lang="en" sz="2000" b="1">
                <a:latin typeface="IBM Plex Sans"/>
                <a:ea typeface="IBM Plex Sans"/>
                <a:cs typeface="IBM Plex Sans"/>
                <a:sym typeface="IBM Plex Sans"/>
              </a:rPr>
              <a:t>3 </a:t>
            </a:r>
            <a:r>
              <a:rPr lang="en" sz="2000"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|</a:t>
            </a:r>
            <a:r>
              <a:rPr lang="en" sz="2000" b="1">
                <a:latin typeface="IBM Plex Sans"/>
                <a:ea typeface="IBM Plex Sans"/>
                <a:cs typeface="IBM Plex Sans"/>
                <a:sym typeface="IBM Plex Sans"/>
              </a:rPr>
              <a:t> Références pertinentes</a:t>
            </a:r>
            <a:endParaRPr sz="2000" b="1"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6"/>
          <p:cNvSpPr/>
          <p:nvPr/>
        </p:nvSpPr>
        <p:spPr>
          <a:xfrm>
            <a:off x="496125" y="1017150"/>
            <a:ext cx="6082500" cy="31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152B"/>
              </a:buClr>
              <a:buSzPts val="2800"/>
              <a:buFont typeface="IBM Plex Sans"/>
              <a:buNone/>
            </a:pPr>
            <a:r>
              <a:rPr lang="en" sz="2000" b="1" i="0" u="none" strike="noStrike" cap="none">
                <a:solidFill>
                  <a:srgbClr val="15152B"/>
                </a:solidFill>
                <a:latin typeface="IBM Plex Sans"/>
                <a:ea typeface="IBM Plex Sans"/>
                <a:cs typeface="IBM Plex Sans"/>
                <a:sym typeface="IBM Plex Sans"/>
              </a:rPr>
              <a:t>1</a:t>
            </a:r>
            <a:r>
              <a:rPr lang="en" sz="2000" b="1">
                <a:solidFill>
                  <a:srgbClr val="15152B"/>
                </a:solidFill>
                <a:latin typeface="IBM Plex Sans"/>
                <a:ea typeface="IBM Plex Sans"/>
                <a:cs typeface="IBM Plex Sans"/>
                <a:sym typeface="IBM Plex Sans"/>
              </a:rPr>
              <a:t> |</a:t>
            </a:r>
            <a:r>
              <a:rPr lang="en" sz="2000" b="1" i="0" u="none" strike="noStrike" cap="none">
                <a:solidFill>
                  <a:srgbClr val="15152B"/>
                </a:solidFill>
                <a:latin typeface="IBM Plex Sans"/>
                <a:ea typeface="IBM Plex Sans"/>
                <a:cs typeface="IBM Plex Sans"/>
                <a:sym typeface="IBM Plex Sans"/>
              </a:rPr>
              <a:t> Présentation de Solstice Lab</a:t>
            </a:r>
            <a:endParaRPr sz="2000" b="1" i="0" u="none" strike="noStrike" cap="none">
              <a:solidFill>
                <a:srgbClr val="15152B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152B"/>
              </a:buClr>
              <a:buSzPts val="2800"/>
              <a:buFont typeface="IBM Plex Sans"/>
              <a:buNone/>
            </a:pPr>
            <a:endParaRPr sz="2000" b="1">
              <a:solidFill>
                <a:srgbClr val="15152B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152B"/>
              </a:buClr>
              <a:buSzPts val="2800"/>
              <a:buFont typeface="IBM Plex Sans"/>
              <a:buNone/>
            </a:pPr>
            <a:r>
              <a:rPr lang="en" sz="2000" b="1">
                <a:solidFill>
                  <a:srgbClr val="15152B"/>
                </a:solidFill>
                <a:highlight>
                  <a:srgbClr val="FFD200"/>
                </a:highlight>
                <a:latin typeface="IBM Plex Sans"/>
                <a:ea typeface="IBM Plex Sans"/>
                <a:cs typeface="IBM Plex Sans"/>
                <a:sym typeface="IBM Plex Sans"/>
              </a:rPr>
              <a:t>2 | Partie 2</a:t>
            </a:r>
            <a:endParaRPr sz="2000" b="1">
              <a:solidFill>
                <a:srgbClr val="15152B"/>
              </a:solidFill>
              <a:highlight>
                <a:srgbClr val="FFD200"/>
              </a:highlight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152B"/>
              </a:buClr>
              <a:buSzPts val="2800"/>
              <a:buFont typeface="IBM Plex Sans"/>
              <a:buNone/>
            </a:pPr>
            <a:endParaRPr sz="2000" b="1">
              <a:solidFill>
                <a:srgbClr val="15152B"/>
              </a:solidFill>
              <a:highlight>
                <a:srgbClr val="FFD200"/>
              </a:highlight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rgbClr val="15152B"/>
                </a:solidFill>
                <a:latin typeface="IBM Plex Sans"/>
                <a:ea typeface="IBM Plex Sans"/>
                <a:cs typeface="IBM Plex Sans"/>
                <a:sym typeface="IBM Plex Sans"/>
              </a:rPr>
              <a:t>3 | Références</a:t>
            </a:r>
            <a:endParaRPr sz="2000" b="1">
              <a:solidFill>
                <a:srgbClr val="15152B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7"/>
          <p:cNvSpPr/>
          <p:nvPr/>
        </p:nvSpPr>
        <p:spPr>
          <a:xfrm>
            <a:off x="496125" y="389850"/>
            <a:ext cx="8151600" cy="10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IBM Plex Sans"/>
              <a:buNone/>
            </a:pPr>
            <a:r>
              <a:rPr lang="en" sz="2000" b="1">
                <a:solidFill>
                  <a:srgbClr val="FFFFFF"/>
                </a:solidFill>
                <a:highlight>
                  <a:srgbClr val="15152B"/>
                </a:highlight>
                <a:latin typeface="IBM Plex Sans"/>
                <a:ea typeface="IBM Plex Sans"/>
                <a:cs typeface="IBM Plex Sans"/>
                <a:sym typeface="IBM Plex Sans"/>
              </a:rPr>
              <a:t>Titre 1 - IBM PLEX Gras 20 (sur 1 ligne)</a:t>
            </a:r>
            <a:endParaRPr sz="2000" b="1" i="0" u="none" strike="noStrike" cap="none">
              <a:solidFill>
                <a:srgbClr val="FFFFFF"/>
              </a:solidFill>
              <a:highlight>
                <a:srgbClr val="15152B"/>
              </a:highlight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2B"/>
              </a:buClr>
              <a:buSzPts val="1300"/>
              <a:buFont typeface="IBM Plex Sans"/>
              <a:buNone/>
            </a:pPr>
            <a:r>
              <a:rPr lang="en">
                <a:solidFill>
                  <a:srgbClr val="15152B"/>
                </a:solidFill>
                <a:latin typeface="IBM Plex Sans"/>
                <a:ea typeface="IBM Plex Sans"/>
                <a:cs typeface="IBM Plex Sans"/>
                <a:sym typeface="IBM Plex Sans"/>
              </a:rPr>
              <a:t>Message principal du slide en IBM PLEX 14 avec </a:t>
            </a:r>
            <a:r>
              <a:rPr lang="en" b="1">
                <a:solidFill>
                  <a:srgbClr val="15152B"/>
                </a:solidFill>
                <a:latin typeface="IBM Plex Sans"/>
                <a:ea typeface="IBM Plex Sans"/>
                <a:cs typeface="IBM Plex Sans"/>
                <a:sym typeface="IBM Plex Sans"/>
              </a:rPr>
              <a:t>accentuation</a:t>
            </a:r>
            <a:r>
              <a:rPr lang="en">
                <a:solidFill>
                  <a:srgbClr val="15152B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" b="1">
                <a:solidFill>
                  <a:srgbClr val="15152B"/>
                </a:solidFill>
                <a:latin typeface="IBM Plex Sans"/>
                <a:ea typeface="IBM Plex Sans"/>
                <a:cs typeface="IBM Plex Sans"/>
                <a:sym typeface="IBM Plex Sans"/>
              </a:rPr>
              <a:t>en gras</a:t>
            </a:r>
            <a:r>
              <a:rPr lang="en">
                <a:solidFill>
                  <a:srgbClr val="15152B"/>
                </a:solidFill>
                <a:latin typeface="IBM Plex Sans"/>
                <a:ea typeface="IBM Plex Sans"/>
                <a:cs typeface="IBM Plex Sans"/>
                <a:sym typeface="IBM Plex Sans"/>
              </a:rPr>
              <a:t> et/ou en </a:t>
            </a:r>
            <a:r>
              <a:rPr lang="en">
                <a:solidFill>
                  <a:srgbClr val="15152B"/>
                </a:solidFill>
                <a:highlight>
                  <a:srgbClr val="DFEBFD"/>
                </a:highlight>
                <a:latin typeface="IBM Plex Sans"/>
                <a:ea typeface="IBM Plex Sans"/>
                <a:cs typeface="IBM Plex Sans"/>
                <a:sym typeface="IBM Plex Sans"/>
              </a:rPr>
              <a:t>surlignage #DFEBFD, </a:t>
            </a:r>
            <a:r>
              <a:rPr lang="en">
                <a:solidFill>
                  <a:srgbClr val="15152B"/>
                </a:solidFill>
                <a:latin typeface="IBM Plex Sans"/>
                <a:ea typeface="IBM Plex Sans"/>
                <a:cs typeface="IBM Plex Sans"/>
                <a:sym typeface="IBM Plex Sans"/>
              </a:rPr>
              <a:t>sur 1, 2 ou 3 lignes (max)</a:t>
            </a:r>
            <a:endParaRPr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IBM Plex Sans"/>
              <a:buNone/>
            </a:pPr>
            <a:endParaRPr sz="2500" b="1">
              <a:solidFill>
                <a:srgbClr val="FFFFFF"/>
              </a:solidFill>
              <a:highlight>
                <a:srgbClr val="15152B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77" name="Google Shape;177;p17"/>
          <p:cNvSpPr/>
          <p:nvPr/>
        </p:nvSpPr>
        <p:spPr>
          <a:xfrm>
            <a:off x="496125" y="4748000"/>
            <a:ext cx="7959900" cy="2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2B"/>
              </a:buClr>
              <a:buSzPts val="1300"/>
              <a:buFont typeface="IBM Plex Sans"/>
              <a:buNone/>
            </a:pPr>
            <a:r>
              <a:rPr lang="en" sz="900">
                <a:solidFill>
                  <a:srgbClr val="15152B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*Note de bas de page en IBM PLEX Light 9</a:t>
            </a:r>
            <a:endParaRPr sz="900">
              <a:solidFill>
                <a:srgbClr val="FFFFFF"/>
              </a:solidFill>
              <a:highlight>
                <a:srgbClr val="15152B"/>
              </a:highlight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178" name="Google Shape;178;p17"/>
          <p:cNvSpPr txBox="1">
            <a:spLocks noGrp="1"/>
          </p:cNvSpPr>
          <p:nvPr>
            <p:ph type="sldNum" idx="12"/>
          </p:nvPr>
        </p:nvSpPr>
        <p:spPr>
          <a:xfrm>
            <a:off x="8863836" y="4799896"/>
            <a:ext cx="153900" cy="130800"/>
          </a:xfrm>
          <a:prstGeom prst="rect">
            <a:avLst/>
          </a:prstGeom>
        </p:spPr>
        <p:txBody>
          <a:bodyPr spcFirstLastPara="1" wrap="square" lIns="19050" tIns="19050" rIns="19050" bIns="1905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179" name="Google Shape;179;p1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6129" y="1474827"/>
            <a:ext cx="2935550" cy="293555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7"/>
          <p:cNvSpPr/>
          <p:nvPr/>
        </p:nvSpPr>
        <p:spPr>
          <a:xfrm>
            <a:off x="3739825" y="1474825"/>
            <a:ext cx="4908000" cy="29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5152A"/>
                </a:solidFill>
                <a:latin typeface="IBM Plex Sans"/>
                <a:ea typeface="IBM Plex Sans"/>
                <a:cs typeface="IBM Plex Sans"/>
                <a:sym typeface="IBM Plex Sans"/>
              </a:rPr>
              <a:t>Paragraphe</a:t>
            </a:r>
            <a:endParaRPr>
              <a:solidFill>
                <a:srgbClr val="15152A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5152A"/>
              </a:buClr>
              <a:buSzPts val="1400"/>
              <a:buFont typeface="IBM Plex Sans"/>
              <a:buChar char="➔"/>
            </a:pPr>
            <a:r>
              <a:rPr lang="en">
                <a:solidFill>
                  <a:srgbClr val="15152A"/>
                </a:solidFill>
                <a:latin typeface="IBM Plex Sans"/>
                <a:ea typeface="IBM Plex Sans"/>
                <a:cs typeface="IBM Plex Sans"/>
                <a:sym typeface="IBM Plex Sans"/>
              </a:rPr>
              <a:t>Bullet point 1</a:t>
            </a:r>
            <a:endParaRPr>
              <a:solidFill>
                <a:srgbClr val="15152A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5152A"/>
              </a:buClr>
              <a:buSzPts val="1400"/>
              <a:buFont typeface="IBM Plex Sans"/>
              <a:buChar char="➔"/>
            </a:pPr>
            <a:r>
              <a:rPr lang="en">
                <a:solidFill>
                  <a:srgbClr val="15152A"/>
                </a:solidFill>
                <a:latin typeface="IBM Plex Sans"/>
                <a:ea typeface="IBM Plex Sans"/>
                <a:cs typeface="IBM Plex Sans"/>
                <a:sym typeface="IBM Plex Sans"/>
              </a:rPr>
              <a:t>Bullet point 2</a:t>
            </a:r>
            <a:endParaRPr>
              <a:solidFill>
                <a:srgbClr val="15152A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8"/>
          <p:cNvSpPr/>
          <p:nvPr/>
        </p:nvSpPr>
        <p:spPr>
          <a:xfrm>
            <a:off x="496125" y="389850"/>
            <a:ext cx="8151600" cy="10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IBM Plex Sans"/>
              <a:buNone/>
            </a:pPr>
            <a:r>
              <a:rPr lang="en" sz="2000" b="1">
                <a:solidFill>
                  <a:schemeClr val="lt1"/>
                </a:solidFill>
                <a:highlight>
                  <a:srgbClr val="15152B"/>
                </a:highlight>
                <a:latin typeface="IBM Plex Sans"/>
                <a:ea typeface="IBM Plex Sans"/>
                <a:cs typeface="IBM Plex Sans"/>
                <a:sym typeface="IBM Plex Sans"/>
              </a:rPr>
              <a:t>Titre 1 - IBM PLEX Gras 20 (sur 1 ligne)</a:t>
            </a:r>
            <a:endParaRPr sz="2500" b="1">
              <a:solidFill>
                <a:srgbClr val="FFFFFF"/>
              </a:solidFill>
              <a:highlight>
                <a:srgbClr val="15152B"/>
              </a:highlight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2B"/>
              </a:buClr>
              <a:buSzPts val="1300"/>
              <a:buFont typeface="IBM Plex Sans"/>
              <a:buNone/>
            </a:pPr>
            <a:r>
              <a:rPr lang="en">
                <a:solidFill>
                  <a:srgbClr val="15152B"/>
                </a:solidFill>
                <a:latin typeface="IBM Plex Sans"/>
                <a:ea typeface="IBM Plex Sans"/>
                <a:cs typeface="IBM Plex Sans"/>
                <a:sym typeface="IBM Plex Sans"/>
              </a:rPr>
              <a:t>Message principal du slide en IBM PLEX 14 avec </a:t>
            </a:r>
            <a:r>
              <a:rPr lang="en" b="1">
                <a:solidFill>
                  <a:srgbClr val="15152B"/>
                </a:solidFill>
                <a:latin typeface="IBM Plex Sans"/>
                <a:ea typeface="IBM Plex Sans"/>
                <a:cs typeface="IBM Plex Sans"/>
                <a:sym typeface="IBM Plex Sans"/>
              </a:rPr>
              <a:t>accentuation</a:t>
            </a:r>
            <a:r>
              <a:rPr lang="en">
                <a:solidFill>
                  <a:srgbClr val="15152B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" b="1">
                <a:solidFill>
                  <a:srgbClr val="15152B"/>
                </a:solidFill>
                <a:latin typeface="IBM Plex Sans"/>
                <a:ea typeface="IBM Plex Sans"/>
                <a:cs typeface="IBM Plex Sans"/>
                <a:sym typeface="IBM Plex Sans"/>
              </a:rPr>
              <a:t>en gras</a:t>
            </a:r>
            <a:r>
              <a:rPr lang="en">
                <a:solidFill>
                  <a:srgbClr val="15152B"/>
                </a:solidFill>
                <a:latin typeface="IBM Plex Sans"/>
                <a:ea typeface="IBM Plex Sans"/>
                <a:cs typeface="IBM Plex Sans"/>
                <a:sym typeface="IBM Plex Sans"/>
              </a:rPr>
              <a:t> et/ou en </a:t>
            </a:r>
            <a:r>
              <a:rPr lang="en">
                <a:solidFill>
                  <a:srgbClr val="15152B"/>
                </a:solidFill>
                <a:highlight>
                  <a:srgbClr val="DFEBFD"/>
                </a:highlight>
                <a:latin typeface="IBM Plex Sans"/>
                <a:ea typeface="IBM Plex Sans"/>
                <a:cs typeface="IBM Plex Sans"/>
                <a:sym typeface="IBM Plex Sans"/>
              </a:rPr>
              <a:t>surlignage #DFEBFD, </a:t>
            </a:r>
            <a:r>
              <a:rPr lang="en">
                <a:solidFill>
                  <a:srgbClr val="15152B"/>
                </a:solidFill>
                <a:latin typeface="IBM Plex Sans"/>
                <a:ea typeface="IBM Plex Sans"/>
                <a:cs typeface="IBM Plex Sans"/>
                <a:sym typeface="IBM Plex Sans"/>
              </a:rPr>
              <a:t>sur 1, 2 ou 3 lignes (max)</a:t>
            </a:r>
            <a:endParaRPr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IBM Plex Sans"/>
              <a:buNone/>
            </a:pPr>
            <a:endParaRPr sz="2500" b="1">
              <a:solidFill>
                <a:srgbClr val="FFFFFF"/>
              </a:solidFill>
              <a:highlight>
                <a:srgbClr val="15152B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87" name="Google Shape;187;p18"/>
          <p:cNvSpPr/>
          <p:nvPr/>
        </p:nvSpPr>
        <p:spPr>
          <a:xfrm>
            <a:off x="496125" y="4748000"/>
            <a:ext cx="7959900" cy="2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2B"/>
              </a:buClr>
              <a:buSzPts val="1300"/>
              <a:buFont typeface="IBM Plex Sans"/>
              <a:buNone/>
            </a:pPr>
            <a:r>
              <a:rPr lang="en" sz="900">
                <a:solidFill>
                  <a:srgbClr val="15152B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*Note de bas de page en IBM PLEX Light 9</a:t>
            </a:r>
            <a:endParaRPr sz="900">
              <a:solidFill>
                <a:srgbClr val="FFFFFF"/>
              </a:solidFill>
              <a:highlight>
                <a:srgbClr val="15152B"/>
              </a:highlight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188" name="Google Shape;188;p18"/>
          <p:cNvSpPr txBox="1">
            <a:spLocks noGrp="1"/>
          </p:cNvSpPr>
          <p:nvPr>
            <p:ph type="sldNum" idx="12"/>
          </p:nvPr>
        </p:nvSpPr>
        <p:spPr>
          <a:xfrm>
            <a:off x="8863836" y="4799896"/>
            <a:ext cx="153900" cy="130800"/>
          </a:xfrm>
          <a:prstGeom prst="rect">
            <a:avLst/>
          </a:prstGeom>
        </p:spPr>
        <p:txBody>
          <a:bodyPr spcFirstLastPara="1" wrap="square" lIns="19050" tIns="19050" rIns="19050" bIns="1905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189" name="Google Shape;189;p18"/>
          <p:cNvSpPr/>
          <p:nvPr/>
        </p:nvSpPr>
        <p:spPr>
          <a:xfrm>
            <a:off x="496125" y="1454775"/>
            <a:ext cx="7959900" cy="29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5152A"/>
                </a:solidFill>
                <a:latin typeface="IBM Plex Sans"/>
                <a:ea typeface="IBM Plex Sans"/>
                <a:cs typeface="IBM Plex Sans"/>
                <a:sym typeface="IBM Plex Sans"/>
              </a:rPr>
              <a:t>Paragraphe 1</a:t>
            </a:r>
            <a:endParaRPr>
              <a:solidFill>
                <a:srgbClr val="15152A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Clr>
                <a:srgbClr val="15152A"/>
              </a:buClr>
              <a:buSzPts val="1400"/>
              <a:buFont typeface="IBM Plex Sans"/>
              <a:buChar char="➔"/>
            </a:pPr>
            <a:r>
              <a:rPr lang="en">
                <a:solidFill>
                  <a:srgbClr val="15152A"/>
                </a:solidFill>
                <a:latin typeface="IBM Plex Sans"/>
                <a:ea typeface="IBM Plex Sans"/>
                <a:cs typeface="IBM Plex Sans"/>
                <a:sym typeface="IBM Plex Sans"/>
              </a:rPr>
              <a:t>Bullet point 1</a:t>
            </a:r>
            <a:endParaRPr>
              <a:solidFill>
                <a:srgbClr val="15152A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Clr>
                <a:srgbClr val="15152A"/>
              </a:buClr>
              <a:buSzPts val="1400"/>
              <a:buFont typeface="IBM Plex Sans"/>
              <a:buChar char="➔"/>
            </a:pPr>
            <a:r>
              <a:rPr lang="en">
                <a:solidFill>
                  <a:srgbClr val="15152A"/>
                </a:solidFill>
                <a:latin typeface="IBM Plex Sans"/>
                <a:ea typeface="IBM Plex Sans"/>
                <a:cs typeface="IBM Plex Sans"/>
                <a:sym typeface="IBM Plex Sans"/>
              </a:rPr>
              <a:t>Bullet point 2</a:t>
            </a:r>
            <a:endParaRPr>
              <a:solidFill>
                <a:srgbClr val="15152A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5152A"/>
                </a:solidFill>
                <a:latin typeface="IBM Plex Sans"/>
                <a:ea typeface="IBM Plex Sans"/>
                <a:cs typeface="IBM Plex Sans"/>
                <a:sym typeface="IBM Plex Sans"/>
              </a:rPr>
              <a:t>Paragraphe 2</a:t>
            </a:r>
            <a:endParaRPr>
              <a:solidFill>
                <a:srgbClr val="15152A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0"/>
          <p:cNvSpPr txBox="1">
            <a:spLocks noGrp="1"/>
          </p:cNvSpPr>
          <p:nvPr>
            <p:ph type="sldNum" idx="12"/>
          </p:nvPr>
        </p:nvSpPr>
        <p:spPr>
          <a:xfrm>
            <a:off x="8863836" y="4799896"/>
            <a:ext cx="153900" cy="130800"/>
          </a:xfrm>
          <a:prstGeom prst="rect">
            <a:avLst/>
          </a:prstGeom>
        </p:spPr>
        <p:txBody>
          <a:bodyPr spcFirstLastPara="1" wrap="square" lIns="19050" tIns="19050" rIns="19050" bIns="1905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320" name="Google Shape;320;p30"/>
          <p:cNvSpPr/>
          <p:nvPr/>
        </p:nvSpPr>
        <p:spPr>
          <a:xfrm>
            <a:off x="496125" y="389850"/>
            <a:ext cx="6489900" cy="10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IBM Plex Sans"/>
              <a:buNone/>
            </a:pPr>
            <a:r>
              <a:rPr lang="en" sz="2000" b="1">
                <a:solidFill>
                  <a:srgbClr val="FFFFFF"/>
                </a:solidFill>
                <a:highlight>
                  <a:srgbClr val="15152B"/>
                </a:highlight>
                <a:latin typeface="IBM Plex Sans"/>
                <a:ea typeface="IBM Plex Sans"/>
                <a:cs typeface="IBM Plex Sans"/>
                <a:sym typeface="IBM Plex Sans"/>
              </a:rPr>
              <a:t>Développement du reporting financier</a:t>
            </a:r>
            <a:endParaRPr>
              <a:solidFill>
                <a:srgbClr val="15152B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15152B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Conception et automatisation du calcul des </a:t>
            </a:r>
            <a:r>
              <a:rPr lang="en" b="1">
                <a:solidFill>
                  <a:srgbClr val="15152B"/>
                </a:solidFill>
                <a:latin typeface="IBM Plex Sans"/>
                <a:ea typeface="IBM Plex Sans"/>
                <a:cs typeface="IBM Plex Sans"/>
                <a:sym typeface="IBM Plex Sans"/>
              </a:rPr>
              <a:t>principaux indicateurs de performance</a:t>
            </a:r>
            <a:r>
              <a:rPr lang="en">
                <a:solidFill>
                  <a:srgbClr val="15152B"/>
                </a:solidFill>
                <a:latin typeface="IBM Plex Sans"/>
                <a:ea typeface="IBM Plex Sans"/>
                <a:cs typeface="IBM Plex Sans"/>
                <a:sym typeface="IBM Plex Sans"/>
              </a:rPr>
              <a:t> de cette scale-up Saas du secteur financier</a:t>
            </a:r>
            <a:endParaRPr sz="2500" b="1">
              <a:solidFill>
                <a:srgbClr val="FFFFFF"/>
              </a:solidFill>
              <a:highlight>
                <a:srgbClr val="15152B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21" name="Google Shape;321;p30"/>
          <p:cNvSpPr/>
          <p:nvPr/>
        </p:nvSpPr>
        <p:spPr>
          <a:xfrm>
            <a:off x="496125" y="4748000"/>
            <a:ext cx="7959900" cy="2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2B"/>
              </a:buClr>
              <a:buSzPts val="1300"/>
              <a:buFont typeface="IBM Plex Sans"/>
              <a:buNone/>
            </a:pPr>
            <a:r>
              <a:rPr lang="en" sz="900" b="1">
                <a:solidFill>
                  <a:srgbClr val="15152B"/>
                </a:solidFill>
                <a:latin typeface="IBM Plex Sans"/>
                <a:ea typeface="IBM Plex Sans"/>
                <a:cs typeface="IBM Plex Sans"/>
                <a:sym typeface="IBM Plex Sans"/>
              </a:rPr>
              <a:t>Technologies mobilisées dans le cadre du projet </a:t>
            </a:r>
            <a:r>
              <a:rPr lang="en" sz="900">
                <a:solidFill>
                  <a:srgbClr val="15152B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: Oracle NetSuite, Fabric Data Warehouse, Power BI</a:t>
            </a:r>
            <a:endParaRPr sz="900">
              <a:solidFill>
                <a:srgbClr val="FFFFFF"/>
              </a:solidFill>
              <a:highlight>
                <a:srgbClr val="15152B"/>
              </a:highlight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322" name="Google Shape;322;p30"/>
          <p:cNvSpPr/>
          <p:nvPr/>
        </p:nvSpPr>
        <p:spPr>
          <a:xfrm>
            <a:off x="496125" y="1393950"/>
            <a:ext cx="2174100" cy="3262800"/>
          </a:xfrm>
          <a:prstGeom prst="roundRect">
            <a:avLst>
              <a:gd name="adj" fmla="val 248"/>
            </a:avLst>
          </a:prstGeom>
          <a:solidFill>
            <a:srgbClr val="DFEB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30"/>
          <p:cNvSpPr/>
          <p:nvPr/>
        </p:nvSpPr>
        <p:spPr>
          <a:xfrm>
            <a:off x="671175" y="1603450"/>
            <a:ext cx="1798800" cy="28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15152B"/>
              </a:buClr>
              <a:buSzPts val="1500"/>
              <a:buFont typeface="IBM Plex Sans"/>
              <a:buNone/>
            </a:pPr>
            <a:r>
              <a:rPr lang="en" b="1">
                <a:solidFill>
                  <a:srgbClr val="15152B"/>
                </a:solidFill>
                <a:latin typeface="IBM Plex Sans"/>
                <a:ea typeface="IBM Plex Sans"/>
                <a:cs typeface="IBM Plex Sans"/>
                <a:sym typeface="IBM Plex Sans"/>
              </a:rPr>
              <a:t>        </a:t>
            </a:r>
            <a:r>
              <a:rPr lang="en" b="1" i="0" u="none" strike="noStrike" cap="none">
                <a:solidFill>
                  <a:srgbClr val="15152B"/>
                </a:solidFill>
                <a:highlight>
                  <a:srgbClr val="FFD200"/>
                </a:highlight>
                <a:latin typeface="IBM Plex Sans"/>
                <a:ea typeface="IBM Plex Sans"/>
                <a:cs typeface="IBM Plex Sans"/>
                <a:sym typeface="IBM Plex Sans"/>
              </a:rPr>
              <a:t>Problématique</a:t>
            </a:r>
            <a:endParaRPr b="1" i="0" u="none" strike="noStrike" cap="none">
              <a:solidFill>
                <a:srgbClr val="15152B"/>
              </a:solidFill>
              <a:highlight>
                <a:srgbClr val="FFD200"/>
              </a:highlight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15152B"/>
                </a:solidFill>
                <a:latin typeface="IBM Plex Sans"/>
                <a:ea typeface="IBM Plex Sans"/>
                <a:cs typeface="IBM Plex Sans"/>
                <a:sym typeface="IBM Plex Sans"/>
              </a:rPr>
              <a:t>La direction financière et le fonds avaient besoin d’un reporting structuré et automatisé, permettant le pilotage des principaux indicateurs propres aux éditeurs Saas (ARR, CARR, Churn, NRR, etc.)</a:t>
            </a:r>
            <a:endParaRPr sz="1200">
              <a:solidFill>
                <a:srgbClr val="15152B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15152B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Contexte de build up.</a:t>
            </a:r>
            <a:endParaRPr sz="1200">
              <a:solidFill>
                <a:srgbClr val="15152B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24" name="Google Shape;324;p30"/>
          <p:cNvSpPr/>
          <p:nvPr/>
        </p:nvSpPr>
        <p:spPr>
          <a:xfrm>
            <a:off x="2891151" y="1441175"/>
            <a:ext cx="3279300" cy="3215700"/>
          </a:xfrm>
          <a:prstGeom prst="roundRect">
            <a:avLst>
              <a:gd name="adj" fmla="val 248"/>
            </a:avLst>
          </a:prstGeom>
          <a:solidFill>
            <a:srgbClr val="DFEB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30"/>
          <p:cNvSpPr/>
          <p:nvPr/>
        </p:nvSpPr>
        <p:spPr>
          <a:xfrm>
            <a:off x="3101175" y="1603450"/>
            <a:ext cx="2830800" cy="28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15152B"/>
              </a:buClr>
              <a:buSzPts val="1500"/>
              <a:buFont typeface="IBM Plex Sans"/>
              <a:buNone/>
            </a:pPr>
            <a:r>
              <a:rPr lang="en" b="1">
                <a:solidFill>
                  <a:srgbClr val="15152B"/>
                </a:solidFill>
                <a:latin typeface="IBM Plex Sans"/>
                <a:ea typeface="IBM Plex Sans"/>
                <a:cs typeface="IBM Plex Sans"/>
                <a:sym typeface="IBM Plex Sans"/>
              </a:rPr>
              <a:t>        </a:t>
            </a:r>
            <a:r>
              <a:rPr lang="en" b="1">
                <a:solidFill>
                  <a:srgbClr val="15152B"/>
                </a:solidFill>
                <a:highlight>
                  <a:srgbClr val="FFD200"/>
                </a:highlight>
                <a:latin typeface="IBM Plex Sans"/>
                <a:ea typeface="IBM Plex Sans"/>
                <a:cs typeface="IBM Plex Sans"/>
                <a:sym typeface="IBM Plex Sans"/>
              </a:rPr>
              <a:t>Intervention</a:t>
            </a:r>
            <a:endParaRPr b="1">
              <a:solidFill>
                <a:srgbClr val="15152B"/>
              </a:solidFill>
              <a:highlight>
                <a:srgbClr val="FFD200"/>
              </a:highlight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rgbClr val="15152B"/>
                </a:solidFill>
                <a:latin typeface="IBM Plex Sans"/>
                <a:ea typeface="IBM Plex Sans"/>
                <a:cs typeface="IBM Plex Sans"/>
                <a:sym typeface="IBM Plex Sans"/>
              </a:rPr>
              <a:t>Coordination des parties prenantes du projet : </a:t>
            </a:r>
            <a:r>
              <a:rPr lang="en" sz="1200">
                <a:solidFill>
                  <a:srgbClr val="15152B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contrôle de gestion, direction financière, filiales, fonds, intégrateur de l’ERP Netsuite, etc.</a:t>
            </a:r>
            <a:endParaRPr sz="1200" b="1">
              <a:solidFill>
                <a:srgbClr val="15152B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rgbClr val="15152B"/>
                </a:solidFill>
                <a:latin typeface="IBM Plex Sans"/>
                <a:ea typeface="IBM Plex Sans"/>
                <a:cs typeface="IBM Plex Sans"/>
                <a:sym typeface="IBM Plex Sans"/>
              </a:rPr>
              <a:t>Analyse</a:t>
            </a:r>
            <a:r>
              <a:rPr lang="en" sz="1200">
                <a:solidFill>
                  <a:srgbClr val="15152B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" sz="1200" b="1">
                <a:solidFill>
                  <a:srgbClr val="15152B"/>
                </a:solidFill>
                <a:latin typeface="IBM Plex Sans"/>
                <a:ea typeface="IBM Plex Sans"/>
                <a:cs typeface="IBM Plex Sans"/>
                <a:sym typeface="IBM Plex Sans"/>
              </a:rPr>
              <a:t>et remise en question</a:t>
            </a:r>
            <a:r>
              <a:rPr lang="en" sz="1200">
                <a:solidFill>
                  <a:srgbClr val="15152B"/>
                </a:solidFill>
                <a:latin typeface="IBM Plex Sans"/>
                <a:ea typeface="IBM Plex Sans"/>
                <a:cs typeface="IBM Plex Sans"/>
                <a:sym typeface="IBM Plex Sans"/>
              </a:rPr>
              <a:t> des données sources de facturation dans l’ERP.</a:t>
            </a:r>
            <a:endParaRPr sz="1200">
              <a:solidFill>
                <a:srgbClr val="15152B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rgbClr val="15152B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Construction d’une architecture data : </a:t>
            </a:r>
            <a:r>
              <a:rPr lang="en" sz="1200">
                <a:solidFill>
                  <a:srgbClr val="15152B"/>
                </a:solidFill>
                <a:latin typeface="IBM Plex Sans"/>
                <a:ea typeface="IBM Plex Sans"/>
                <a:cs typeface="IBM Plex Sans"/>
                <a:sym typeface="IBM Plex Sans"/>
              </a:rPr>
              <a:t>flux de données automatisés, Data Warehouse, solution de BI.</a:t>
            </a:r>
            <a:endParaRPr sz="1200" b="1">
              <a:solidFill>
                <a:srgbClr val="15152B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rgbClr val="15152B"/>
                </a:solidFill>
                <a:latin typeface="IBM Plex Sans"/>
                <a:ea typeface="IBM Plex Sans"/>
                <a:cs typeface="IBM Plex Sans"/>
                <a:sym typeface="IBM Plex Sans"/>
              </a:rPr>
              <a:t>Développement de visuels </a:t>
            </a:r>
            <a:r>
              <a:rPr lang="en" sz="1200">
                <a:solidFill>
                  <a:srgbClr val="15152B"/>
                </a:solidFill>
                <a:latin typeface="IBM Plex Sans"/>
                <a:ea typeface="IBM Plex Sans"/>
                <a:cs typeface="IBM Plex Sans"/>
                <a:sym typeface="IBM Plex Sans"/>
              </a:rPr>
              <a:t>en Power BI.</a:t>
            </a:r>
            <a:endParaRPr sz="1200">
              <a:solidFill>
                <a:srgbClr val="15152B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26" name="Google Shape;326;p30"/>
          <p:cNvSpPr/>
          <p:nvPr/>
        </p:nvSpPr>
        <p:spPr>
          <a:xfrm>
            <a:off x="6381601" y="1441175"/>
            <a:ext cx="2174100" cy="3215700"/>
          </a:xfrm>
          <a:prstGeom prst="roundRect">
            <a:avLst>
              <a:gd name="adj" fmla="val 248"/>
            </a:avLst>
          </a:prstGeom>
          <a:solidFill>
            <a:srgbClr val="DFEB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30"/>
          <p:cNvSpPr/>
          <p:nvPr/>
        </p:nvSpPr>
        <p:spPr>
          <a:xfrm>
            <a:off x="6569250" y="1603450"/>
            <a:ext cx="1798800" cy="28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15152B"/>
              </a:buClr>
              <a:buSzPts val="1500"/>
              <a:buFont typeface="IBM Plex Sans"/>
              <a:buNone/>
            </a:pPr>
            <a:r>
              <a:rPr lang="en" b="1">
                <a:solidFill>
                  <a:srgbClr val="15152B"/>
                </a:solidFill>
                <a:latin typeface="IBM Plex Sans"/>
                <a:ea typeface="IBM Plex Sans"/>
                <a:cs typeface="IBM Plex Sans"/>
                <a:sym typeface="IBM Plex Sans"/>
              </a:rPr>
              <a:t>        </a:t>
            </a:r>
            <a:r>
              <a:rPr lang="en" b="1">
                <a:solidFill>
                  <a:srgbClr val="15152B"/>
                </a:solidFill>
                <a:highlight>
                  <a:srgbClr val="FFD200"/>
                </a:highlight>
                <a:latin typeface="IBM Plex Sans"/>
                <a:ea typeface="IBM Plex Sans"/>
                <a:cs typeface="IBM Plex Sans"/>
                <a:sym typeface="IBM Plex Sans"/>
              </a:rPr>
              <a:t>Impact</a:t>
            </a:r>
            <a:endParaRPr b="1">
              <a:solidFill>
                <a:srgbClr val="15152B"/>
              </a:solidFill>
              <a:highlight>
                <a:srgbClr val="FFD200"/>
              </a:highlight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15152B"/>
                </a:solidFill>
                <a:latin typeface="IBM Plex Sans"/>
                <a:ea typeface="IBM Plex Sans"/>
                <a:cs typeface="IBM Plex Sans"/>
                <a:sym typeface="IBM Plex Sans"/>
              </a:rPr>
              <a:t>Des données de facturation et de contrats fiabilisées et centralisées.</a:t>
            </a:r>
            <a:endParaRPr sz="1200">
              <a:solidFill>
                <a:srgbClr val="15152B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15152B"/>
                </a:solidFill>
                <a:latin typeface="IBM Plex Sans"/>
                <a:ea typeface="IBM Plex Sans"/>
                <a:cs typeface="IBM Plex Sans"/>
                <a:sym typeface="IBM Plex Sans"/>
              </a:rPr>
              <a:t>Des tableaux de bord d’ARR et de CARR automatisés, permettant la prise de décision. </a:t>
            </a:r>
            <a:endParaRPr sz="1200">
              <a:solidFill>
                <a:srgbClr val="15152B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328" name="Google Shape;328;p3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1166" y="1592365"/>
            <a:ext cx="208836" cy="2609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3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09556" y="1592364"/>
            <a:ext cx="208836" cy="2609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30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91621" y="1592364"/>
            <a:ext cx="208836" cy="260985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30"/>
          <p:cNvSpPr txBox="1"/>
          <p:nvPr/>
        </p:nvSpPr>
        <p:spPr>
          <a:xfrm>
            <a:off x="6876298" y="883001"/>
            <a:ext cx="681600" cy="1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300" tIns="17300" rIns="17300" bIns="17300" anchor="ctr" anchorCtr="0">
            <a:spAutoFit/>
          </a:bodyPr>
          <a:lstStyle/>
          <a:p>
            <a:pPr marL="46115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52A"/>
              </a:buClr>
              <a:buSzPts val="817"/>
              <a:buFont typeface="IBM Plex Sans"/>
              <a:buNone/>
            </a:pPr>
            <a:r>
              <a:rPr lang="en" sz="817" b="0" i="1" u="none" strike="noStrike" cap="none">
                <a:solidFill>
                  <a:srgbClr val="15152A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conseillé par</a:t>
            </a:r>
            <a:endParaRPr sz="454"/>
          </a:p>
        </p:txBody>
      </p:sp>
      <p:pic>
        <p:nvPicPr>
          <p:cNvPr id="332" name="Google Shape;332;p30"/>
          <p:cNvPicPr preferRelativeResize="0"/>
          <p:nvPr/>
        </p:nvPicPr>
        <p:blipFill rotWithShape="1">
          <a:blip r:embed="rId6">
            <a:alphaModFix/>
          </a:blip>
          <a:srcRect t="42445" b="45445"/>
          <a:stretch/>
        </p:blipFill>
        <p:spPr>
          <a:xfrm>
            <a:off x="6641492" y="462875"/>
            <a:ext cx="2154991" cy="26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591845" y="776016"/>
            <a:ext cx="1096176" cy="319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8" name="Google Shape;658;p48" title="•_03_Solstice- LAB_logo_blan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54501" y="2318351"/>
            <a:ext cx="3034998" cy="50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346</Words>
  <Application>Microsoft Office PowerPoint</Application>
  <PresentationFormat>On-screen Show (16:9)</PresentationFormat>
  <Paragraphs>54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Helvetica Neue</vt:lpstr>
      <vt:lpstr>IBM Plex Sans Light</vt:lpstr>
      <vt:lpstr>Helvetica Neue Light</vt:lpstr>
      <vt:lpstr>IBM Plex Sans</vt:lpstr>
      <vt:lpstr>Arial</vt:lpstr>
      <vt:lpstr>White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Julien Vermersch</cp:lastModifiedBy>
  <cp:revision>2</cp:revision>
  <dcterms:modified xsi:type="dcterms:W3CDTF">2026-06-01T13:32:02Z</dcterms:modified>
</cp:coreProperties>
</file>